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74920"/>
            <a:ext cx="10698480" cy="914400"/>
          </a:xfrm>
          <a:prstGeom prst="rect">
            <a:avLst/>
          </a:prstGeom>
          <a:solidFill>
            <a:srgbClr val="EE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F2963"/>
                </a:solidFill>
              </a:defRPr>
            </a:pPr>
            <a:r>
              <a:t>Pulser Professional Office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14300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46A8"/>
                </a:solidFill>
              </a:defRPr>
            </a:pPr>
            <a:r>
              <a:t>Publishable-quality PowerPoint, Word, and Excel capabilities for Pulser for 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2148840" cy="402336"/>
          </a:xfrm>
          <a:prstGeom prst="roundRect">
            <a:avLst/>
          </a:prstGeom>
          <a:solidFill>
            <a:srgbClr val="2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PowerPoint Studio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920240"/>
            <a:ext cx="2148840" cy="402336"/>
          </a:xfrm>
          <a:prstGeom prst="roundRect">
            <a:avLst/>
          </a:prstGeom>
          <a:solidFill>
            <a:srgbClr val="56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Word Studio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40679" y="1920240"/>
            <a:ext cx="2148840" cy="402336"/>
          </a:xfrm>
          <a:prstGeom prst="round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Excel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9875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2F2963"/>
                </a:solidFill>
              </a:defRPr>
            </a:pPr>
            <a:r>
              <a:t>A governed Office-artifact skill layer that turns live Odoo context and retained evidence into executive decks, formal documents, and formula-safe workbooks.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25780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F2963"/>
                </a:solidFill>
              </a:defRPr>
            </a:pPr>
            <a:r>
              <a:t>Grounded content • native artifact generation • render QA • reviewer signoff • Odoo Documents retention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Pulser for PH — Professional Office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F2963"/>
                </a:solidFill>
              </a:defRPr>
            </a:pPr>
            <a:r>
              <a:t>Three studios, one professional publishing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4300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46A8"/>
                </a:solidFill>
              </a:defRPr>
            </a:pPr>
            <a:r>
              <a:t>Each studio shares the same grounding, review, and retention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926080" cy="3977639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206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2926080" cy="640080"/>
          </a:xfrm>
          <a:prstGeom prst="rect">
            <a:avLst/>
          </a:prstGeom>
          <a:solidFill>
            <a:srgbClr val="2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PowerPoint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606040"/>
            <a:ext cx="251460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F2963"/>
                </a:solidFill>
              </a:defRPr>
            </a:pPr>
            <a:r>
              <a:t>Executive narrative decks</a:t>
            </a:r>
          </a:p>
          <a:p>
            <a:pPr>
              <a:spcAft>
                <a:spcPts val="800"/>
              </a:spcAft>
              <a:defRPr sz="1600">
                <a:solidFill>
                  <a:srgbClr val="2F2963"/>
                </a:solidFill>
              </a:defRPr>
            </a:pPr>
            <a:r>
              <a:t>Operating reviews</a:t>
            </a:r>
          </a:p>
          <a:p>
            <a:pPr>
              <a:spcAft>
                <a:spcPts val="800"/>
              </a:spcAft>
              <a:defRPr sz="1600">
                <a:solidFill>
                  <a:srgbClr val="2F2963"/>
                </a:solidFill>
              </a:defRPr>
            </a:pPr>
            <a:r>
              <a:t>Board updates</a:t>
            </a:r>
          </a:p>
          <a:p>
            <a:pPr>
              <a:spcAft>
                <a:spcPts val="800"/>
              </a:spcAft>
              <a:defRPr sz="1600">
                <a:solidFill>
                  <a:srgbClr val="2F2963"/>
                </a:solidFill>
              </a:defRPr>
            </a:pPr>
            <a:r>
              <a:t>Milestone storylines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737360"/>
            <a:ext cx="2926080" cy="3977639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564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69080" y="1737360"/>
            <a:ext cx="2926080" cy="640080"/>
          </a:xfrm>
          <a:prstGeom prst="rect">
            <a:avLst/>
          </a:prstGeom>
          <a:solidFill>
            <a:srgbClr val="56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Word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0248" y="2606040"/>
            <a:ext cx="251460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F2963"/>
                </a:solidFill>
              </a:defRPr>
            </a:pPr>
            <a:r>
              <a:t>PRDs and plans</a:t>
            </a:r>
          </a:p>
          <a:p>
            <a:pPr>
              <a:spcAft>
                <a:spcPts val="800"/>
              </a:spcAft>
              <a:defRPr sz="1600">
                <a:solidFill>
                  <a:srgbClr val="2F2963"/>
                </a:solidFill>
              </a:defRPr>
            </a:pPr>
            <a:r>
              <a:t>Policies and playbooks</a:t>
            </a:r>
          </a:p>
          <a:p>
            <a:pPr>
              <a:spcAft>
                <a:spcPts val="800"/>
              </a:spcAft>
              <a:defRPr sz="1600">
                <a:solidFill>
                  <a:srgbClr val="2F2963"/>
                </a:solidFill>
              </a:defRPr>
            </a:pPr>
            <a:r>
              <a:t>Close packs</a:t>
            </a:r>
          </a:p>
          <a:p>
            <a:pPr>
              <a:spcAft>
                <a:spcPts val="800"/>
              </a:spcAft>
              <a:defRPr sz="1600">
                <a:solidFill>
                  <a:srgbClr val="2F2963"/>
                </a:solidFill>
              </a:defRPr>
            </a:pPr>
            <a:r>
              <a:t>Publishable briefs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737360"/>
            <a:ext cx="2926080" cy="3977639"/>
          </a:xfrm>
          <a:prstGeom prst="roundRect">
            <a:avLst/>
          </a:prstGeom>
          <a:solidFill>
            <a:srgbClr val="F4F6FA"/>
          </a:solidFill>
          <a:ln w="15875"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737360"/>
            <a:ext cx="2926080" cy="640080"/>
          </a:xfrm>
          <a:prstGeom prst="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Excel 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7808" y="2606040"/>
            <a:ext cx="251460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F2963"/>
                </a:solidFill>
              </a:defRPr>
            </a:pPr>
            <a:r>
              <a:t>OKR dashboards</a:t>
            </a:r>
          </a:p>
          <a:p>
            <a:pPr>
              <a:spcAft>
                <a:spcPts val="800"/>
              </a:spcAft>
              <a:defRPr sz="1600">
                <a:solidFill>
                  <a:srgbClr val="2F2963"/>
                </a:solidFill>
              </a:defRPr>
            </a:pPr>
            <a:r>
              <a:t>Skill matrices</a:t>
            </a:r>
          </a:p>
          <a:p>
            <a:pPr>
              <a:spcAft>
                <a:spcPts val="800"/>
              </a:spcAft>
              <a:defRPr sz="1600">
                <a:solidFill>
                  <a:srgbClr val="2F2963"/>
                </a:solidFill>
              </a:defRPr>
            </a:pPr>
            <a:r>
              <a:t>KPI scorecards</a:t>
            </a:r>
          </a:p>
          <a:p>
            <a:pPr>
              <a:spcAft>
                <a:spcPts val="800"/>
              </a:spcAft>
              <a:defRPr sz="1600">
                <a:solidFill>
                  <a:srgbClr val="2F2963"/>
                </a:solidFill>
              </a:defRPr>
            </a:pPr>
            <a:r>
              <a:t>Formula-safe workbooks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5897880"/>
            <a:ext cx="10424160" cy="411480"/>
          </a:xfrm>
          <a:prstGeom prst="roundRect">
            <a:avLst/>
          </a:prstGeom>
          <a:solidFill>
            <a:srgbClr val="EE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>
                <a:solidFill>
                  <a:srgbClr val="2F2963"/>
                </a:solidFill>
              </a:defRPr>
            </a:pPr>
            <a:r>
              <a:t>Common gate: evidence-backed content, native formatting, render review, signoff, retained copies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Pulser for PH — Professional Office Skills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F2963"/>
                </a:solidFill>
              </a:defRPr>
            </a:pPr>
            <a:r>
              <a:t>Pulser Office-skill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4300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46A8"/>
                </a:solidFill>
              </a:defRPr>
            </a:pPr>
            <a:r>
              <a:t>Publishable quality comes from grounded content plus structured QA.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2057400" cy="2743200"/>
          </a:xfrm>
          <a:prstGeom prst="roundRect">
            <a:avLst/>
          </a:prstGeom>
          <a:solidFill>
            <a:srgbClr val="F4F6FA"/>
          </a:solidFill>
          <a:ln>
            <a:solidFill>
              <a:srgbClr val="564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F2963"/>
                </a:solidFill>
              </a:defRPr>
            </a:pPr>
            <a:r>
              <a:t>1. Inputs</a:t>
            </a:r>
          </a:p>
          <a:p>
            <a:pPr algn="ctr">
              <a:defRPr sz="1400">
                <a:solidFill>
                  <a:srgbClr val="5A5A5A"/>
                </a:solidFill>
              </a:defRPr>
            </a:pPr>
            <a:r>
              <a:t>Active Odoo records</a:t>
            </a:r>
            <a:br/>
            <a:r>
              <a:t>Finance PPM metrics</a:t>
            </a:r>
            <a:br/>
            <a:r>
              <a:t>Retained documents</a:t>
            </a:r>
          </a:p>
        </p:txBody>
      </p:sp>
      <p:sp>
        <p:nvSpPr>
          <p:cNvPr id="5" name="Chevron 4"/>
          <p:cNvSpPr/>
          <p:nvPr/>
        </p:nvSpPr>
        <p:spPr>
          <a:xfrm>
            <a:off x="2788920" y="2880360"/>
            <a:ext cx="365760" cy="548640"/>
          </a:xfrm>
          <a:prstGeom prst="chevron">
            <a:avLst/>
          </a:prstGeom>
          <a:solidFill>
            <a:srgbClr val="56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71800" y="1920240"/>
            <a:ext cx="2057400" cy="2743200"/>
          </a:xfrm>
          <a:prstGeom prst="roundRect">
            <a:avLst/>
          </a:prstGeom>
          <a:solidFill>
            <a:srgbClr val="EEEAFE"/>
          </a:solidFill>
          <a:ln>
            <a:solidFill>
              <a:srgbClr val="564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F2963"/>
                </a:solidFill>
              </a:defRPr>
            </a:pPr>
            <a:r>
              <a:t>2. Grounding</a:t>
            </a:r>
          </a:p>
          <a:p>
            <a:pPr algn="ctr">
              <a:defRPr sz="1400">
                <a:solidFill>
                  <a:srgbClr val="5A5A5A"/>
                </a:solidFill>
              </a:defRPr>
            </a:pPr>
            <a:r>
              <a:t>Linked artifacts</a:t>
            </a:r>
            <a:br/>
            <a:r>
              <a:t>Policies / indexes</a:t>
            </a:r>
            <a:br/>
            <a:r>
              <a:t>Evidence classification</a:t>
            </a:r>
          </a:p>
        </p:txBody>
      </p:sp>
      <p:sp>
        <p:nvSpPr>
          <p:cNvPr id="7" name="Chevron 6"/>
          <p:cNvSpPr/>
          <p:nvPr/>
        </p:nvSpPr>
        <p:spPr>
          <a:xfrm>
            <a:off x="5120640" y="2880360"/>
            <a:ext cx="365760" cy="548640"/>
          </a:xfrm>
          <a:prstGeom prst="chevron">
            <a:avLst/>
          </a:prstGeom>
          <a:solidFill>
            <a:srgbClr val="56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0" y="1920240"/>
            <a:ext cx="2057400" cy="2743200"/>
          </a:xfrm>
          <a:prstGeom prst="roundRect">
            <a:avLst/>
          </a:prstGeom>
          <a:solidFill>
            <a:srgbClr val="F4F6FA"/>
          </a:solidFill>
          <a:ln>
            <a:solidFill>
              <a:srgbClr val="564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F2963"/>
                </a:solidFill>
              </a:defRPr>
            </a:pPr>
            <a:r>
              <a:t>3. Studio generation</a:t>
            </a:r>
          </a:p>
          <a:p>
            <a:pPr algn="ctr">
              <a:defRPr sz="1400">
                <a:solidFill>
                  <a:srgbClr val="5A5A5A"/>
                </a:solidFill>
              </a:defRPr>
            </a:pPr>
            <a:r>
              <a:t>PPTX</a:t>
            </a:r>
            <a:br/>
            <a:r>
              <a:t>DOCX</a:t>
            </a:r>
            <a:br/>
            <a:r>
              <a:t>XLSX</a:t>
            </a:r>
          </a:p>
        </p:txBody>
      </p:sp>
      <p:sp>
        <p:nvSpPr>
          <p:cNvPr id="9" name="Chevron 8"/>
          <p:cNvSpPr/>
          <p:nvPr/>
        </p:nvSpPr>
        <p:spPr>
          <a:xfrm>
            <a:off x="7452360" y="2880360"/>
            <a:ext cx="365760" cy="548640"/>
          </a:xfrm>
          <a:prstGeom prst="chevron">
            <a:avLst/>
          </a:prstGeom>
          <a:solidFill>
            <a:srgbClr val="56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35240" y="1920240"/>
            <a:ext cx="2057400" cy="2743200"/>
          </a:xfrm>
          <a:prstGeom prst="roundRect">
            <a:avLst/>
          </a:prstGeom>
          <a:solidFill>
            <a:srgbClr val="EEEAFE"/>
          </a:solidFill>
          <a:ln>
            <a:solidFill>
              <a:srgbClr val="564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F2963"/>
                </a:solidFill>
              </a:defRPr>
            </a:pPr>
            <a:r>
              <a:t>4. QA &amp; review</a:t>
            </a:r>
          </a:p>
          <a:p>
            <a:pPr algn="ctr">
              <a:defRPr sz="1400">
                <a:solidFill>
                  <a:srgbClr val="5A5A5A"/>
                </a:solidFill>
              </a:defRPr>
            </a:pPr>
            <a:r>
              <a:t>Render validation</a:t>
            </a:r>
            <a:br/>
            <a:r>
              <a:t>Reviewer notes</a:t>
            </a:r>
            <a:br/>
            <a:r>
              <a:t>Business-rule checks</a:t>
            </a:r>
          </a:p>
        </p:txBody>
      </p:sp>
      <p:sp>
        <p:nvSpPr>
          <p:cNvPr id="11" name="Chevron 10"/>
          <p:cNvSpPr/>
          <p:nvPr/>
        </p:nvSpPr>
        <p:spPr>
          <a:xfrm>
            <a:off x="9784080" y="2880360"/>
            <a:ext cx="365760" cy="548640"/>
          </a:xfrm>
          <a:prstGeom prst="chevron">
            <a:avLst/>
          </a:prstGeom>
          <a:solidFill>
            <a:srgbClr val="56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66959" y="1920240"/>
            <a:ext cx="2057400" cy="2743200"/>
          </a:xfrm>
          <a:prstGeom prst="roundRect">
            <a:avLst/>
          </a:prstGeom>
          <a:solidFill>
            <a:srgbClr val="F4F6FA"/>
          </a:solidFill>
          <a:ln>
            <a:solidFill>
              <a:srgbClr val="564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F2963"/>
                </a:solidFill>
              </a:defRPr>
            </a:pPr>
            <a:r>
              <a:t>5. Publish</a:t>
            </a:r>
          </a:p>
          <a:p>
            <a:pPr algn="ctr">
              <a:defRPr sz="1400">
                <a:solidFill>
                  <a:srgbClr val="5A5A5A"/>
                </a:solidFill>
              </a:defRPr>
            </a:pPr>
            <a:r>
              <a:t>Retained copies</a:t>
            </a:r>
            <a:br/>
            <a:r>
              <a:t>Trace links</a:t>
            </a:r>
            <a:br/>
            <a:r>
              <a:t>Circulation-ready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2064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2963"/>
                </a:solidFill>
              </a:defRPr>
            </a:pPr>
            <a:r>
              <a:t>Rule: if retained evidence exists in Odoo Documents, Pulser should prefer that evidence over generic model-only explanation.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Pulser for PH — Professional Office Skills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F2963"/>
                </a:solidFill>
              </a:defRPr>
            </a:pPr>
            <a:r>
              <a:t>Finance PPM dashboard + Documents vault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4300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46A8"/>
                </a:solidFill>
              </a:defRPr>
            </a:pPr>
            <a:r>
              <a:t>Status lives in Project/OKRs; authoritative copies live in Odoo Documents.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66360" cy="4434840"/>
          </a:xfrm>
          <a:prstGeom prst="roundRect">
            <a:avLst/>
          </a:prstGeom>
          <a:solidFill>
            <a:srgbClr val="F4F6FA"/>
          </a:solidFill>
          <a:ln>
            <a:solidFill>
              <a:srgbClr val="564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F2963"/>
                </a:solidFill>
              </a:defRPr>
            </a:pPr>
            <a:r>
              <a:t>Finance PPM dashboard</a:t>
            </a:r>
          </a:p>
          <a:p>
            <a:pPr>
              <a:defRPr sz="1500">
                <a:solidFill>
                  <a:srgbClr val="2F2963"/>
                </a:solidFill>
              </a:defRPr>
            </a:pPr>
            <a:r>
              <a:t>Executive OKRs and KR trends</a:t>
            </a:r>
          </a:p>
          <a:p>
            <a:pPr>
              <a:defRPr sz="1500">
                <a:solidFill>
                  <a:srgbClr val="2F2963"/>
                </a:solidFill>
              </a:defRPr>
            </a:pPr>
            <a:r>
              <a:t>Milestones, dependencies, scheduled activities</a:t>
            </a:r>
          </a:p>
          <a:p>
            <a:pPr>
              <a:defRPr sz="1500">
                <a:solidFill>
                  <a:srgbClr val="2F2963"/>
                </a:solidFill>
              </a:defRPr>
            </a:pPr>
            <a:r>
              <a:t>Blocker aging and release gates</a:t>
            </a:r>
          </a:p>
          <a:p>
            <a:pPr>
              <a:defRPr sz="1500">
                <a:solidFill>
                  <a:srgbClr val="2F2963"/>
                </a:solidFill>
              </a:defRPr>
            </a:pPr>
            <a:r>
              <a:t>Evidence completeness and grounding coverage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91640"/>
            <a:ext cx="5166360" cy="4434840"/>
          </a:xfrm>
          <a:prstGeom prst="roundRect">
            <a:avLst/>
          </a:prstGeom>
          <a:solidFill>
            <a:srgbClr val="F4F6FA"/>
          </a:solidFill>
          <a:ln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F2963"/>
                </a:solidFill>
              </a:defRPr>
            </a:pPr>
            <a:r>
              <a:t>Odoo Documents vault</a:t>
            </a:r>
          </a:p>
          <a:p>
            <a:pPr>
              <a:defRPr sz="1500">
                <a:solidFill>
                  <a:srgbClr val="2F2963"/>
                </a:solidFill>
              </a:defRPr>
            </a:pPr>
            <a:r>
              <a:t>Source files and extracted payloads</a:t>
            </a:r>
          </a:p>
          <a:p>
            <a:pPr>
              <a:defRPr sz="1500">
                <a:solidFill>
                  <a:srgbClr val="2F2963"/>
                </a:solidFill>
              </a:defRPr>
            </a:pPr>
            <a:r>
              <a:t>Review packs and signoff artifacts</a:t>
            </a:r>
          </a:p>
          <a:p>
            <a:pPr>
              <a:defRPr sz="1500">
                <a:solidFill>
                  <a:srgbClr val="2F2963"/>
                </a:solidFill>
              </a:defRPr>
            </a:pPr>
            <a:r>
              <a:t>BIR readiness packs and close packs</a:t>
            </a:r>
          </a:p>
          <a:p>
            <a:pPr>
              <a:defRPr sz="1500">
                <a:solidFill>
                  <a:srgbClr val="2F2963"/>
                </a:solidFill>
              </a:defRPr>
            </a:pPr>
            <a:r>
              <a:t>External confirmations and exception notes</a:t>
            </a:r>
          </a:p>
        </p:txBody>
      </p:sp>
      <p:sp>
        <p:nvSpPr>
          <p:cNvPr id="6" name="Chevron 5"/>
          <p:cNvSpPr/>
          <p:nvPr/>
        </p:nvSpPr>
        <p:spPr>
          <a:xfrm>
            <a:off x="5440680" y="3246120"/>
            <a:ext cx="502920" cy="548640"/>
          </a:xfrm>
          <a:prstGeom prst="chevron">
            <a:avLst/>
          </a:prstGeom>
          <a:solidFill>
            <a:srgbClr val="56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39" y="5623560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2F2963"/>
                </a:solidFill>
              </a:defRPr>
            </a:pPr>
            <a:r>
              <a:t>No finance-critical item is complete without retained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Pulser for PH — Professional Office Skills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F2963"/>
                </a:solidFill>
              </a:defRPr>
            </a:pPr>
            <a:r>
              <a:t>Publishable-quality gates and measurable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4300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46A8"/>
                </a:solidFill>
              </a:defRPr>
            </a:pPr>
            <a:r>
              <a:t>Pulser Office Skills must improve output quality, reviewer speed, and evidence-backed publishing.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4572000" cy="4480560"/>
          </a:xfrm>
          <a:prstGeom prst="roundRect">
            <a:avLst/>
          </a:prstGeom>
          <a:solidFill>
            <a:srgbClr val="EEEAFE"/>
          </a:solidFill>
          <a:ln>
            <a:solidFill>
              <a:srgbClr val="564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F2963"/>
                </a:solidFill>
              </a:defRPr>
            </a:pPr>
            <a:r>
              <a:t>Publish gate</a:t>
            </a:r>
          </a:p>
          <a:p>
            <a:pPr>
              <a:defRPr sz="1500">
                <a:solidFill>
                  <a:srgbClr val="2F2963"/>
                </a:solidFill>
              </a:defRPr>
            </a:pPr>
            <a:r>
              <a:t>✓ Grounded in Odoo / Documents / approved knowledge</a:t>
            </a:r>
          </a:p>
          <a:p>
            <a:pPr>
              <a:defRPr sz="1500">
                <a:solidFill>
                  <a:srgbClr val="2F2963"/>
                </a:solidFill>
              </a:defRPr>
            </a:pPr>
            <a:r>
              <a:t>✓ Clean render with no overflow or broken layout</a:t>
            </a:r>
          </a:p>
          <a:p>
            <a:pPr>
              <a:defRPr sz="1500">
                <a:solidFill>
                  <a:srgbClr val="2F2963"/>
                </a:solidFill>
              </a:defRPr>
            </a:pPr>
            <a:r>
              <a:t>✓ Reviewer notes resolved</a:t>
            </a:r>
          </a:p>
          <a:p>
            <a:pPr>
              <a:defRPr sz="1500">
                <a:solidFill>
                  <a:srgbClr val="2F2963"/>
                </a:solidFill>
              </a:defRPr>
            </a:pPr>
            <a:r>
              <a:t>✓ Retained copies stored in Documents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828800"/>
            <a:ext cx="5486400" cy="658368"/>
          </a:xfrm>
          <a:prstGeom prst="roundRect">
            <a:avLst/>
          </a:prstGeom>
          <a:solidFill>
            <a:srgbClr val="F4F6FA"/>
          </a:solidFill>
          <a:ln>
            <a:solidFill>
              <a:srgbClr val="D2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97880" y="1920240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F2963"/>
                </a:solidFill>
              </a:defRPr>
            </a:pPr>
            <a:r>
              <a:t>First publishable draft 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1892807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5646A8"/>
                </a:solidFill>
              </a:defRPr>
            </a:pPr>
            <a:r>
              <a:t>&lt; 1 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633472"/>
            <a:ext cx="5486400" cy="658368"/>
          </a:xfrm>
          <a:prstGeom prst="roundRect">
            <a:avLst/>
          </a:prstGeom>
          <a:solidFill>
            <a:srgbClr val="F4F6FA"/>
          </a:solidFill>
          <a:ln>
            <a:solidFill>
              <a:srgbClr val="D2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2724912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F2963"/>
                </a:solidFill>
              </a:defRPr>
            </a:pPr>
            <a:r>
              <a:t>QA pass without major rework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2697479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5646A8"/>
                </a:solidFill>
              </a:defRPr>
            </a:pPr>
            <a:r>
              <a:t>≥ 90%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3438144"/>
            <a:ext cx="5486400" cy="658368"/>
          </a:xfrm>
          <a:prstGeom prst="roundRect">
            <a:avLst/>
          </a:prstGeom>
          <a:solidFill>
            <a:srgbClr val="F4F6FA"/>
          </a:solidFill>
          <a:ln>
            <a:solidFill>
              <a:srgbClr val="D2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3529584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F2963"/>
                </a:solidFill>
              </a:defRPr>
            </a:pPr>
            <a:r>
              <a:t>Grounded publishable 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3502151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5646A8"/>
                </a:solidFill>
              </a:defRPr>
            </a:pPr>
            <a:r>
              <a:t>≥ 95%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4242816"/>
            <a:ext cx="5486400" cy="658368"/>
          </a:xfrm>
          <a:prstGeom prst="roundRect">
            <a:avLst/>
          </a:prstGeom>
          <a:solidFill>
            <a:srgbClr val="F4F6FA"/>
          </a:solidFill>
          <a:ln>
            <a:solidFill>
              <a:srgbClr val="D2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4334255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F2963"/>
                </a:solidFill>
              </a:defRPr>
            </a:pPr>
            <a:r>
              <a:t>Reviewer turnaround improvement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430682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5646A8"/>
                </a:solidFill>
              </a:defRPr>
            </a:pPr>
            <a:r>
              <a:t>-30%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5047488"/>
            <a:ext cx="5486400" cy="658368"/>
          </a:xfrm>
          <a:prstGeom prst="roundRect">
            <a:avLst/>
          </a:prstGeom>
          <a:solidFill>
            <a:srgbClr val="F4F6FA"/>
          </a:solidFill>
          <a:ln>
            <a:solidFill>
              <a:srgbClr val="D2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7880" y="5138927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F2963"/>
                </a:solidFill>
              </a:defRPr>
            </a:pPr>
            <a:r>
              <a:t>Artifacts retained with trace links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511149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5646A8"/>
                </a:solidFill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Pulser for PH — Professional Office Skills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F2963"/>
                </a:solidFill>
              </a:defRPr>
            </a:pPr>
            <a:r>
              <a:t>Release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4300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646A8"/>
                </a:solidFill>
              </a:defRPr>
            </a:pPr>
            <a:r>
              <a:t>Professional formatting is a product capability, not a last-mile cleanup task.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65960"/>
            <a:ext cx="3429000" cy="320040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206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3429000" cy="594360"/>
          </a:xfrm>
          <a:prstGeom prst="rect">
            <a:avLst/>
          </a:prstGeom>
          <a:solidFill>
            <a:srgbClr val="2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R1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743200"/>
            <a:ext cx="2971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F2963"/>
                </a:solidFill>
              </a:defRPr>
            </a:pPr>
            <a:r>
              <a:t>Define studio schemas</a:t>
            </a:r>
          </a:p>
          <a:p>
            <a:pPr>
              <a:spcAft>
                <a:spcPts val="1000"/>
              </a:spcAft>
              <a:defRPr sz="1500">
                <a:solidFill>
                  <a:srgbClr val="2F2963"/>
                </a:solidFill>
              </a:defRPr>
            </a:pPr>
            <a:r>
              <a:t>Replace HTML dashboard</a:t>
            </a:r>
          </a:p>
          <a:p>
            <a:pPr>
              <a:spcAft>
                <a:spcPts val="1000"/>
              </a:spcAft>
              <a:defRPr sz="1500">
                <a:solidFill>
                  <a:srgbClr val="2F2963"/>
                </a:solidFill>
              </a:defRPr>
            </a:pPr>
            <a:r>
              <a:t>Native Odoo OKR views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965960"/>
            <a:ext cx="3429000" cy="320040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564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965960"/>
            <a:ext cx="3429000" cy="594360"/>
          </a:xfrm>
          <a:prstGeom prst="rect">
            <a:avLst/>
          </a:prstGeom>
          <a:solidFill>
            <a:srgbClr val="564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R2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3168" y="2743200"/>
            <a:ext cx="2971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F2963"/>
                </a:solidFill>
              </a:defRPr>
            </a:pPr>
            <a:r>
              <a:t>Documents retention</a:t>
            </a:r>
          </a:p>
          <a:p>
            <a:pPr>
              <a:spcAft>
                <a:spcPts val="1000"/>
              </a:spcAft>
              <a:defRPr sz="1500">
                <a:solidFill>
                  <a:srgbClr val="2F2963"/>
                </a:solidFill>
              </a:defRPr>
            </a:pPr>
            <a:r>
              <a:t>Grounded answering</a:t>
            </a:r>
          </a:p>
          <a:p>
            <a:pPr>
              <a:spcAft>
                <a:spcPts val="1000"/>
              </a:spcAft>
              <a:defRPr sz="1500">
                <a:solidFill>
                  <a:srgbClr val="2F2963"/>
                </a:solidFill>
              </a:defRPr>
            </a:pPr>
            <a:r>
              <a:t>First publishable templates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965960"/>
            <a:ext cx="3429000" cy="320040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21040" y="1965960"/>
            <a:ext cx="3429000" cy="594360"/>
          </a:xfrm>
          <a:prstGeom prst="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R3 Hardening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2208" y="2743200"/>
            <a:ext cx="2971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F2963"/>
                </a:solidFill>
              </a:defRPr>
            </a:pPr>
            <a:r>
              <a:t>Policies + evals + red-team</a:t>
            </a:r>
          </a:p>
          <a:p>
            <a:pPr>
              <a:spcAft>
                <a:spcPts val="1000"/>
              </a:spcAft>
              <a:defRPr sz="1500">
                <a:solidFill>
                  <a:srgbClr val="2F2963"/>
                </a:solidFill>
              </a:defRPr>
            </a:pPr>
            <a:r>
              <a:t>Evidence completeness checks</a:t>
            </a:r>
          </a:p>
          <a:p>
            <a:pPr>
              <a:spcAft>
                <a:spcPts val="1000"/>
              </a:spcAft>
              <a:defRPr sz="1500">
                <a:solidFill>
                  <a:srgbClr val="2F2963"/>
                </a:solidFill>
              </a:defRPr>
            </a:pPr>
            <a:r>
              <a:t>Release 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577840"/>
            <a:ext cx="10515600" cy="411480"/>
          </a:xfrm>
          <a:prstGeom prst="roundRect">
            <a:avLst/>
          </a:prstGeom>
          <a:solidFill>
            <a:srgbClr val="EE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F2963"/>
                </a:solidFill>
              </a:defRPr>
            </a:pPr>
            <a:r>
              <a:t>Outcome: Pulser can create deck/doc/workbook artifacts that are circulation-ready without manual reformatting.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</a:defRPr>
            </a:pPr>
            <a:r>
              <a:t>Pulser for PH — Professional Office Skills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